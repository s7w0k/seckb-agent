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7C8B22-ADC7-9EDB-6BF0-E6065867D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3A2AC86-2B84-8AA6-96C3-394D127819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F084C8-59EF-8FE5-F779-6DBDFB501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41D920-4623-7C2D-E57D-B25D64F7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E2DCEF-0721-669E-0052-EB9E09B08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1353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772F5B-0743-B430-AFED-BB43F24A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8EF20F-219C-15AE-82C0-A665CF2F0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00F71F-BD32-A80D-B5DB-3578916F3B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454E0-8963-79A3-DE8A-52CA35367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A6C473-1319-997D-6ACE-CF61E6F47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294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75665-BE7B-851F-5C8F-64D156614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71EEFB5-5781-0AD1-044C-3C6811D66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4A12E6-6AD1-32FC-120E-CD87A482D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EF18BE-59F5-CC32-8AF4-4F226510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F93FEA-C90B-FF00-2586-9ED52AF37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17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E8DC17-CFFA-20FC-4823-FEFA79B9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BDD24B-BF87-040A-8B3D-6C37DD67F8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B77121-7816-92CA-CD25-76F5DDE155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BE93394-599B-4405-385F-8D7177C2C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AB12E2-0E1A-5F05-8A10-853CB9E3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0A5D5C-0127-F115-21A3-FA02D1FC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942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1B88F1-A248-C7E3-C716-595D3174C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31487B-9481-7ACD-65C4-4C840B35B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545AB9-2544-48D0-29A7-C97EBAC792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B6164F-18F7-5F6F-3D78-6134A258A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0F68482-B970-8C60-8C58-C44B77BFB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F58A16D-13C5-6879-D891-206A4D7F3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EDA360A-D04B-18CC-1872-5E1ABB1B6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6D51B14-51C1-EFCA-2DB9-6566AB168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015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C24B5-C3E7-5082-E107-158B1955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F41A14-9323-03F0-25D3-46E3F997B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C3D937-DF21-C9E7-0144-4A923838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D8F5134-AFDA-4EE0-380A-924C2720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023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EBD267E-51CA-9820-130E-4011F867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CC4A28-1265-32DC-73AE-BFC48369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5102C8-E56A-7C19-C921-CCCEA2B40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521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DE5A13-4E18-2E45-38F9-10C70714A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33E3C0-CCD8-047C-AB09-E0F5022CB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4CCCA0E-F1F4-F5E8-9586-7704587862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1E7C69-80D6-9DBB-4E85-8731C5210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FC7D06-A12E-65D5-7A34-6CE20ABF0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6612121-8F24-5DF6-ADCF-96D72F01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88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416DD9-45A5-83D7-09F7-A39E99243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5190DCA-6904-9D8E-F33F-BD8A4BEA3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4A1BAC-9564-F67D-D09F-4E6AE41EE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480C9E-55CC-416C-9ED9-519699FBD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65FD736-A26C-F858-FF82-983D6B8A6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3AE0DD-4CC9-E471-B4BE-AAD695C50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904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E652C9-4729-E3EB-317A-26FB14E01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3BF82F-CA6F-0A4E-0357-9BD25B952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62B71E-CC2D-2DB9-B039-921C579F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BA196D-B21D-3708-A15B-C7C651DFF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1F5B1D3-C5B1-07EC-D029-CEBEC2257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885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4C74E72-44BA-80BE-27BF-08DB9AFF9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38144BB-39E0-8853-C964-22D909C81C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A6AD49-36EB-456C-7B48-C0BCF8C5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B59400-43DB-7899-D226-1AD0BD00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207E17-C8BC-3551-8638-FADB02D9B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85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381B2FD-936A-590C-261E-D2001F4F0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E1222A-8886-B796-72D2-A96EC42005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0C6A75-0683-E09F-0323-ED8D188D5F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24D1C5-3E5C-463E-90B3-88C5A663A297}" type="datetimeFigureOut">
              <a:rPr lang="zh-CN" altLang="en-US" smtClean="0"/>
              <a:t>2026/8/28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BA4D6A-6896-B487-5527-A724C0BDD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043613-C062-1818-DE2D-343BA6930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303AA8-8ACB-42DF-8B0F-3DF716B4BC4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5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5FB665-AE7C-6E83-4F2F-EE65DCCA224D}"/>
              </a:ext>
            </a:extLst>
          </p:cNvPr>
          <p:cNvSpPr/>
          <p:nvPr/>
        </p:nvSpPr>
        <p:spPr>
          <a:xfrm>
            <a:off x="812800" y="863600"/>
            <a:ext cx="127000" cy="4114800"/>
          </a:xfrm>
          <a:prstGeom prst="rect">
            <a:avLst/>
          </a:prstGeom>
          <a:solidFill>
            <a:srgbClr val="0078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6DC6E4-B341-BE94-3F82-8E79C6819F3D}"/>
              </a:ext>
            </a:extLst>
          </p:cNvPr>
          <p:cNvSpPr txBox="1"/>
          <p:nvPr/>
        </p:nvSpPr>
        <p:spPr>
          <a:xfrm>
            <a:off x="1244600" y="965200"/>
            <a:ext cx="8636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737373"/>
                </a:solidFill>
                <a:latin typeface="Aptos" panose="020B0004020202020204" pitchFamily="34" charset="0"/>
              </a:rPr>
              <a:t>DISASTER RECOVERY / INTERNAL</a:t>
            </a:r>
            <a:endParaRPr lang="zh-CN" altLang="en-US" sz="1400" b="1">
              <a:solidFill>
                <a:srgbClr val="737373"/>
              </a:solidFill>
              <a:latin typeface="Aptos" panose="020B00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F351AF2-64A4-9AB0-6108-94928595BC6C}"/>
              </a:ext>
            </a:extLst>
          </p:cNvPr>
          <p:cNvSpPr txBox="1"/>
          <p:nvPr/>
        </p:nvSpPr>
        <p:spPr>
          <a:xfrm>
            <a:off x="1244600" y="1803400"/>
            <a:ext cx="9144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4000" b="1">
                <a:solidFill>
                  <a:srgbClr val="1E1E1E"/>
                </a:solidFill>
                <a:latin typeface="Aptos" panose="020B0004020202020204" pitchFamily="34" charset="0"/>
              </a:rPr>
              <a:t>Retrieval Gateway Recovery Drill</a:t>
            </a:r>
            <a:endParaRPr lang="zh-CN" altLang="en-US" sz="4000" b="1">
              <a:solidFill>
                <a:srgbClr val="1E1E1E"/>
              </a:solidFill>
              <a:latin typeface="Aptos" panose="020B00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907F03D-B2BC-FFAF-6BF6-23582BF99414}"/>
              </a:ext>
            </a:extLst>
          </p:cNvPr>
          <p:cNvSpPr txBox="1"/>
          <p:nvPr/>
        </p:nvSpPr>
        <p:spPr>
          <a:xfrm>
            <a:off x="1244600" y="4013200"/>
            <a:ext cx="8890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>
                <a:solidFill>
                  <a:srgbClr val="505050"/>
                </a:solidFill>
                <a:latin typeface="Aptos" panose="020B0004020202020204" pitchFamily="34" charset="0"/>
              </a:rPr>
              <a:t>Drill PPTX-7319 validates real presentation parsing, layout semantics, and retrieval.</a:t>
            </a:r>
            <a:endParaRPr lang="zh-CN" altLang="en-US" sz="2000">
              <a:solidFill>
                <a:srgbClr val="50505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107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AB45B8-2D90-C1A7-0139-56B55001BE89}"/>
              </a:ext>
            </a:extLst>
          </p:cNvPr>
          <p:cNvSpPr txBox="1"/>
          <p:nvPr/>
        </p:nvSpPr>
        <p:spPr>
          <a:xfrm>
            <a:off x="812800" y="609600"/>
            <a:ext cx="10541000" cy="461665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000" b="1">
                <a:solidFill>
                  <a:srgbClr val="1E1E1E"/>
                </a:solidFill>
                <a:latin typeface="Aptos" panose="020B0004020202020204" pitchFamily="34" charset="0"/>
              </a:rPr>
              <a:t>Restore the previous index generation within 23 minutes</a:t>
            </a:r>
            <a:endParaRPr lang="zh-CN" altLang="en-US" sz="3000" b="1">
              <a:solidFill>
                <a:srgbClr val="1E1E1E"/>
              </a:solidFill>
              <a:latin typeface="Aptos" panose="020B000402020202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20177AD-6B09-1C7C-501C-7FEBD159A94D}"/>
              </a:ext>
            </a:extLst>
          </p:cNvPr>
          <p:cNvSpPr/>
          <p:nvPr/>
        </p:nvSpPr>
        <p:spPr>
          <a:xfrm>
            <a:off x="1397000" y="3263900"/>
            <a:ext cx="9144000" cy="50800"/>
          </a:xfrm>
          <a:prstGeom prst="rect">
            <a:avLst/>
          </a:prstGeom>
          <a:solidFill>
            <a:srgbClr val="C8C8C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716CBE1-94DC-AE4F-A739-C28C21813445}"/>
              </a:ext>
            </a:extLst>
          </p:cNvPr>
          <p:cNvSpPr/>
          <p:nvPr/>
        </p:nvSpPr>
        <p:spPr>
          <a:xfrm>
            <a:off x="1498600" y="3048000"/>
            <a:ext cx="482600" cy="482600"/>
          </a:xfrm>
          <a:prstGeom prst="ellipse">
            <a:avLst/>
          </a:prstGeom>
          <a:solidFill>
            <a:srgbClr val="0078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E7B43CF-754B-29C5-84E2-DEE1333CF006}"/>
              </a:ext>
            </a:extLst>
          </p:cNvPr>
          <p:cNvSpPr txBox="1"/>
          <p:nvPr/>
        </p:nvSpPr>
        <p:spPr>
          <a:xfrm>
            <a:off x="1117600" y="2489200"/>
            <a:ext cx="152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1E1E1E"/>
                </a:solidFill>
                <a:latin typeface="Aptos" panose="020B0004020202020204" pitchFamily="34" charset="0"/>
              </a:rPr>
              <a:t>0 min</a:t>
            </a:r>
            <a:endParaRPr lang="zh-CN" altLang="en-US" sz="1700" b="1">
              <a:solidFill>
                <a:srgbClr val="1E1E1E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8551957-561E-30F6-4272-82F5E869023E}"/>
              </a:ext>
            </a:extLst>
          </p:cNvPr>
          <p:cNvSpPr txBox="1"/>
          <p:nvPr/>
        </p:nvSpPr>
        <p:spPr>
          <a:xfrm>
            <a:off x="800100" y="3810000"/>
            <a:ext cx="2286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505050"/>
                </a:solidFill>
                <a:latin typeface="Aptos" panose="020B0004020202020204" pitchFamily="34" charset="0"/>
              </a:rPr>
              <a:t>Trigger rollback</a:t>
            </a:r>
            <a:endParaRPr lang="zh-CN" altLang="en-US" sz="1600">
              <a:solidFill>
                <a:srgbClr val="505050"/>
              </a:solidFill>
              <a:latin typeface="Aptos" panose="020B0004020202020204" pitchFamily="34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8FE352-8CA5-A3C8-232E-9AA3AEDCDEFE}"/>
              </a:ext>
            </a:extLst>
          </p:cNvPr>
          <p:cNvSpPr/>
          <p:nvPr/>
        </p:nvSpPr>
        <p:spPr>
          <a:xfrm>
            <a:off x="4419600" y="3048000"/>
            <a:ext cx="482600" cy="482600"/>
          </a:xfrm>
          <a:prstGeom prst="ellipse">
            <a:avLst/>
          </a:prstGeom>
          <a:solidFill>
            <a:srgbClr val="0078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5028E3-D604-8528-80E1-1AEC177AF53A}"/>
              </a:ext>
            </a:extLst>
          </p:cNvPr>
          <p:cNvSpPr txBox="1"/>
          <p:nvPr/>
        </p:nvSpPr>
        <p:spPr>
          <a:xfrm>
            <a:off x="4038600" y="2489200"/>
            <a:ext cx="152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1E1E1E"/>
                </a:solidFill>
                <a:latin typeface="Aptos" panose="020B0004020202020204" pitchFamily="34" charset="0"/>
              </a:rPr>
              <a:t>8 min</a:t>
            </a:r>
            <a:endParaRPr lang="zh-CN" altLang="en-US" sz="1700" b="1">
              <a:solidFill>
                <a:srgbClr val="1E1E1E"/>
              </a:solidFill>
              <a:latin typeface="Aptos" panose="020B00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16C747-B134-10A5-4E51-27C474A8FD75}"/>
              </a:ext>
            </a:extLst>
          </p:cNvPr>
          <p:cNvSpPr txBox="1"/>
          <p:nvPr/>
        </p:nvSpPr>
        <p:spPr>
          <a:xfrm>
            <a:off x="3721100" y="3810000"/>
            <a:ext cx="2286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505050"/>
                </a:solidFill>
                <a:latin typeface="Aptos" panose="020B0004020202020204" pitchFamily="34" charset="0"/>
              </a:rPr>
              <a:t>Switch alias</a:t>
            </a:r>
            <a:endParaRPr lang="zh-CN" altLang="en-US" sz="1600">
              <a:solidFill>
                <a:srgbClr val="505050"/>
              </a:solidFill>
              <a:latin typeface="Aptos" panose="020B0004020202020204" pitchFamily="34" charset="0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09C79A8-8C68-E128-AE73-66294B7FC55F}"/>
              </a:ext>
            </a:extLst>
          </p:cNvPr>
          <p:cNvSpPr/>
          <p:nvPr/>
        </p:nvSpPr>
        <p:spPr>
          <a:xfrm>
            <a:off x="8229600" y="3048000"/>
            <a:ext cx="482600" cy="482600"/>
          </a:xfrm>
          <a:prstGeom prst="ellipse">
            <a:avLst/>
          </a:prstGeom>
          <a:solidFill>
            <a:srgbClr val="99A12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4A2CD84-1BFF-3C0F-31ED-58D2174292B9}"/>
              </a:ext>
            </a:extLst>
          </p:cNvPr>
          <p:cNvSpPr txBox="1"/>
          <p:nvPr/>
        </p:nvSpPr>
        <p:spPr>
          <a:xfrm>
            <a:off x="7848600" y="2489200"/>
            <a:ext cx="1524000" cy="2616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700" b="1">
                <a:solidFill>
                  <a:srgbClr val="1E1E1E"/>
                </a:solidFill>
                <a:latin typeface="Aptos" panose="020B0004020202020204" pitchFamily="34" charset="0"/>
              </a:rPr>
              <a:t>23 min</a:t>
            </a:r>
            <a:endParaRPr lang="zh-CN" altLang="en-US" sz="1700" b="1">
              <a:solidFill>
                <a:srgbClr val="1E1E1E"/>
              </a:solidFill>
              <a:latin typeface="Aptos" panose="020B00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C6AB0B-C65E-80F9-8733-BA6637B85CE4}"/>
              </a:ext>
            </a:extLst>
          </p:cNvPr>
          <p:cNvSpPr txBox="1"/>
          <p:nvPr/>
        </p:nvSpPr>
        <p:spPr>
          <a:xfrm>
            <a:off x="7531100" y="3810000"/>
            <a:ext cx="2286000" cy="2462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600">
                <a:solidFill>
                  <a:srgbClr val="505050"/>
                </a:solidFill>
                <a:latin typeface="Aptos" panose="020B0004020202020204" pitchFamily="34" charset="0"/>
              </a:rPr>
              <a:t>Recovery deadline</a:t>
            </a:r>
            <a:endParaRPr lang="zh-CN" altLang="en-US" sz="1600">
              <a:solidFill>
                <a:srgbClr val="505050"/>
              </a:solidFill>
              <a:latin typeface="Aptos" panose="020B00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A4957BC-ADD5-0676-AD81-10144AF5AC6A}"/>
              </a:ext>
            </a:extLst>
          </p:cNvPr>
          <p:cNvSpPr txBox="1"/>
          <p:nvPr/>
        </p:nvSpPr>
        <p:spPr>
          <a:xfrm>
            <a:off x="1397000" y="5207000"/>
            <a:ext cx="91440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99A120"/>
                </a:solidFill>
                <a:latin typeface="Aptos" panose="020B0004020202020204" pitchFamily="34" charset="0"/>
              </a:rPr>
              <a:t>Acceptance fact: recovery limit = 23 minutes; owner = Retrieval Platform Lead.</a:t>
            </a:r>
            <a:endParaRPr lang="zh-CN" altLang="en-US" sz="1900" b="1">
              <a:solidFill>
                <a:srgbClr val="99A120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454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B93430-A0AA-0256-E047-808A7420370C}"/>
              </a:ext>
            </a:extLst>
          </p:cNvPr>
          <p:cNvSpPr txBox="1"/>
          <p:nvPr/>
        </p:nvSpPr>
        <p:spPr>
          <a:xfrm>
            <a:off x="914400" y="812800"/>
            <a:ext cx="6350000" cy="2154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400" b="1">
                <a:solidFill>
                  <a:srgbClr val="A8A8A8"/>
                </a:solidFill>
                <a:latin typeface="Aptos" panose="020B0004020202020204" pitchFamily="34" charset="0"/>
              </a:rPr>
              <a:t>VALIDATION QUERY</a:t>
            </a:r>
            <a:endParaRPr lang="zh-CN" altLang="en-US" sz="1400" b="1">
              <a:solidFill>
                <a:srgbClr val="A8A8A8"/>
              </a:solidFill>
              <a:latin typeface="Aptos" panose="020B00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6650A13-9C5A-4DE8-0569-DDCFE330A6E1}"/>
              </a:ext>
            </a:extLst>
          </p:cNvPr>
          <p:cNvSpPr txBox="1"/>
          <p:nvPr/>
        </p:nvSpPr>
        <p:spPr>
          <a:xfrm>
            <a:off x="914400" y="1625600"/>
            <a:ext cx="10033000" cy="954107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100" b="1">
                <a:solidFill>
                  <a:srgbClr val="FFFFFF"/>
                </a:solidFill>
                <a:latin typeface="Aptos" panose="020B0004020202020204" pitchFamily="34" charset="0"/>
              </a:rPr>
              <a:t>How quickly must PPTX-7319 restore the previous index generation?</a:t>
            </a:r>
            <a:endParaRPr lang="zh-CN" altLang="en-US" sz="31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DC96B66-AFB7-35E1-DA34-5C4887EE8323}"/>
              </a:ext>
            </a:extLst>
          </p:cNvPr>
          <p:cNvSpPr/>
          <p:nvPr/>
        </p:nvSpPr>
        <p:spPr>
          <a:xfrm>
            <a:off x="914400" y="3632200"/>
            <a:ext cx="4191000" cy="1422400"/>
          </a:xfrm>
          <a:prstGeom prst="roundRect">
            <a:avLst/>
          </a:prstGeom>
          <a:solidFill>
            <a:srgbClr val="0078D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9ED126-B4CD-90B1-26DE-82EBFB93251F}"/>
              </a:ext>
            </a:extLst>
          </p:cNvPr>
          <p:cNvSpPr txBox="1"/>
          <p:nvPr/>
        </p:nvSpPr>
        <p:spPr>
          <a:xfrm>
            <a:off x="1320800" y="4013200"/>
            <a:ext cx="3429000" cy="52322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3400" b="1">
                <a:solidFill>
                  <a:srgbClr val="FFFFFF"/>
                </a:solidFill>
                <a:latin typeface="Aptos" panose="020B0004020202020204" pitchFamily="34" charset="0"/>
              </a:rPr>
              <a:t>23 minutes</a:t>
            </a:r>
            <a:endParaRPr lang="zh-CN" altLang="en-US" sz="34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0FFCCA6-7EC5-FB02-BB52-C318F4BFDDFB}"/>
              </a:ext>
            </a:extLst>
          </p:cNvPr>
          <p:cNvSpPr txBox="1"/>
          <p:nvPr/>
        </p:nvSpPr>
        <p:spPr>
          <a:xfrm>
            <a:off x="5791200" y="3886200"/>
            <a:ext cx="4445000" cy="61555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2000">
                <a:solidFill>
                  <a:srgbClr val="D3D3D3"/>
                </a:solidFill>
                <a:latin typeface="Aptos" panose="020B0004020202020204" pitchFamily="34" charset="0"/>
              </a:rPr>
              <a:t>Owner</a:t>
            </a:r>
          </a:p>
          <a:p>
            <a:r>
              <a:rPr lang="en-US" altLang="zh-CN" sz="2000">
                <a:solidFill>
                  <a:srgbClr val="D3D3D3"/>
                </a:solidFill>
                <a:latin typeface="Aptos" panose="020B0004020202020204" pitchFamily="34" charset="0"/>
              </a:rPr>
              <a:t>Retrieval Platform Lead</a:t>
            </a:r>
            <a:endParaRPr lang="zh-CN" altLang="en-US" sz="2000">
              <a:solidFill>
                <a:srgbClr val="D3D3D3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594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自定义</PresentationFormat>
  <Paragraphs>16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等线 Light</vt:lpstr>
      <vt:lpstr>Aptos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劭琨 张</dc:creator>
  <cp:lastModifiedBy>劭琨 张</cp:lastModifiedBy>
  <cp:revision>1</cp:revision>
  <dcterms:created xsi:type="dcterms:W3CDTF">2026-08-28T02:46:09Z</dcterms:created>
  <dcterms:modified xsi:type="dcterms:W3CDTF">2026-08-28T02:46:09Z</dcterms:modified>
</cp:coreProperties>
</file>